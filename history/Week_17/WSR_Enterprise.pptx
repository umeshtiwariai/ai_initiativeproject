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u="sng" sz="2200"/>
              <a:t>Weekly Status Report : 13 Apr - 17 Apr,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48640"/>
            <a:ext cx="11887200" cy="320040"/>
          </a:xfrm>
          <a:prstGeom prst="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58521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Project Status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960120"/>
          <a:ext cx="11887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  <a:gridCol w="1485900"/>
                <a:gridCol w="1485900"/>
                <a:gridCol w="1485900"/>
                <a:gridCol w="1485900"/>
              </a:tblGrid>
              <a:tr h="457200">
                <a:tc>
                  <a:txBody>
                    <a:bodyPr/>
                    <a:lstStyle/>
                    <a:p>
                      <a:r>
                        <a:t>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 Awaited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 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UD 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Grand Total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1887200" cy="274320"/>
          </a:xfrm>
          <a:prstGeom prst="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2. Project Aging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411480"/>
          <a:ext cx="11887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171"/>
                <a:gridCol w="1698171"/>
                <a:gridCol w="1698171"/>
                <a:gridCol w="1698171"/>
                <a:gridCol w="1698171"/>
                <a:gridCol w="1698171"/>
                <a:gridCol w="1698174"/>
              </a:tblGrid>
              <a:tr h="313508">
                <a:tc>
                  <a:txBody>
                    <a:bodyPr/>
                    <a:lstStyle/>
                    <a:p>
                      <a:r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0 - 30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30 - 60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60 - 90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90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UD 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Grand Total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r>
                        <a:t>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r>
                        <a:t>PO Awaited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r>
                        <a:t>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r>
                        <a:t>In 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r>
                        <a:t>On 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13512">
                <a:tc>
                  <a:txBody>
                    <a:bodyPr/>
                    <a:lstStyle/>
                    <a:p>
                      <a:r>
                        <a:t>Grand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" y="2834640"/>
            <a:ext cx="11887200" cy="274320"/>
          </a:xfrm>
          <a:prstGeom prst="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2852928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Delivery Highlights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" y="3154680"/>
          <a:ext cx="11887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0"/>
              </a:tblGrid>
              <a:tr h="1051560">
                <a:tc>
                  <a:txBody>
                    <a:bodyPr/>
                    <a:lstStyle/>
                    <a:p>
                      <a:r>
                        <a:t>Message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t>No deliveries in last 7 days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1887200" cy="274320"/>
          </a:xfrm>
          <a:prstGeom prst="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4. Risks / Aging Projects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411480"/>
          <a:ext cx="11887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Project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Aging From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Aging (Days)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Enabling UPI on CRM Funding Link for customers - InstaFund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08-May-2025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PIS Account ENET Form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05-Jan-2026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ISA | NDML circular on usage of KRA by MFD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09-Feb-2026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" y="2560320"/>
            <a:ext cx="11887200" cy="274320"/>
          </a:xfrm>
          <a:prstGeom prst="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257860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5. 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971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Here are 5 executive weekly status bullets: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319272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Our portfolio currently manages 15 active projects, with 2 successfully delivered and 5 in UAT.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3666744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A key project successfully went live on April 13th, contributing to our delivered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4014215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Five projects are in UAT, with two facing external dependencies related to API prerequisites and UIDAI issues.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4361688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Three projects remain delayed beyond 60 days, and we are actively addressing their respective blockers.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