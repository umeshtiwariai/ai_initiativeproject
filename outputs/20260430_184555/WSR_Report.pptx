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88952" cy="9144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11704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u="sng" sz="2200"/>
              <a:t>Weekly Status Report : 20 Apr - 24 Apr, 2026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" y="548640"/>
            <a:ext cx="11978640" cy="320040"/>
          </a:xfrm>
          <a:prstGeom prst="rect">
            <a:avLst/>
          </a:prstGeom>
          <a:solidFill>
            <a:srgbClr val="2E7D3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594360"/>
            <a:ext cx="1179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>
                <a:solidFill>
                  <a:srgbClr val="FFFFFF"/>
                </a:solidFill>
              </a:rPr>
              <a:t>1. Status Dashboard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1440" y="1005840"/>
          <a:ext cx="11978640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7330"/>
                <a:gridCol w="1497330"/>
                <a:gridCol w="1497330"/>
                <a:gridCol w="1497330"/>
                <a:gridCol w="1497330"/>
                <a:gridCol w="1497330"/>
                <a:gridCol w="1497330"/>
                <a:gridCol w="1497330"/>
              </a:tblGrid>
              <a:tr h="365760">
                <a:tc>
                  <a:txBody>
                    <a:bodyPr anchor="ctr"/>
                    <a:lstStyle/>
                    <a:p>
                      <a:r>
                        <a:rPr b="1" sz="1000">
                          <a:solidFill>
                            <a:srgbClr val="FFFFFF"/>
                          </a:solidFill>
                        </a:rPr>
                        <a:t>Go Live</a:t>
                      </a:r>
                    </a:p>
                  </a:txBody>
                  <a:tcPr>
                    <a:solidFill>
                      <a:srgbClr val="FF4DB8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rPr b="1" sz="1000">
                          <a:solidFill>
                            <a:srgbClr val="FFFFFF"/>
                          </a:solidFill>
                        </a:rPr>
                        <a:t>Dev</a:t>
                      </a:r>
                    </a:p>
                  </a:txBody>
                  <a:tcPr>
                    <a:solidFill>
                      <a:srgbClr val="FF4DB8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rPr b="1" sz="1000">
                          <a:solidFill>
                            <a:srgbClr val="FFFFFF"/>
                          </a:solidFill>
                        </a:rPr>
                        <a:t>PO Awaited</a:t>
                      </a:r>
                    </a:p>
                  </a:txBody>
                  <a:tcPr>
                    <a:solidFill>
                      <a:srgbClr val="FF4DB8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rPr b="1" sz="1000">
                          <a:solidFill>
                            <a:srgbClr val="FFFFFF"/>
                          </a:solidFill>
                        </a:rPr>
                        <a:t>UAT</a:t>
                      </a:r>
                    </a:p>
                  </a:txBody>
                  <a:tcPr>
                    <a:solidFill>
                      <a:srgbClr val="FF4DB8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rPr b="1" sz="1000">
                          <a:solidFill>
                            <a:srgbClr val="FFFFFF"/>
                          </a:solidFill>
                        </a:rPr>
                        <a:t>In UD</a:t>
                      </a:r>
                    </a:p>
                  </a:txBody>
                  <a:tcPr>
                    <a:solidFill>
                      <a:srgbClr val="FF4DB8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rPr b="1" sz="1000">
                          <a:solidFill>
                            <a:srgbClr val="FFFFFF"/>
                          </a:solidFill>
                        </a:rPr>
                        <a:t>UD Not Started</a:t>
                      </a:r>
                    </a:p>
                  </a:txBody>
                  <a:tcPr>
                    <a:solidFill>
                      <a:srgbClr val="FF4DB8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rPr b="1" sz="1000">
                          <a:solidFill>
                            <a:srgbClr val="FFFFFF"/>
                          </a:solidFill>
                        </a:rPr>
                        <a:t>On Hold</a:t>
                      </a:r>
                    </a:p>
                  </a:txBody>
                  <a:tcPr>
                    <a:solidFill>
                      <a:srgbClr val="FF4DB8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rPr b="1" sz="1000">
                          <a:solidFill>
                            <a:srgbClr val="FFFFFF"/>
                          </a:solidFill>
                        </a:rPr>
                        <a:t>Grand Total</a:t>
                      </a:r>
                    </a:p>
                  </a:txBody>
                  <a:tcPr>
                    <a:solidFill>
                      <a:srgbClr val="FF4DB8"/>
                    </a:solidFill>
                  </a:tcPr>
                </a:tc>
              </a:tr>
              <a:tr h="365760">
                <a:tc>
                  <a:txBody>
                    <a:bodyPr anchor="ctr"/>
                    <a:lstStyle/>
                    <a:p>
                      <a:r>
                        <a:rPr sz="900"/>
                        <a:t>2</a:t>
                      </a:r>
                    </a:p>
                  </a:txBody>
                  <a:tcPr/>
                </a:tc>
                <a:tc>
                  <a:txBody>
                    <a:bodyPr anchor="ctr"/>
                    <a:lstStyle/>
                    <a:p>
                      <a:r>
                        <a:rPr sz="900"/>
                        <a:t>0</a:t>
                      </a:r>
                    </a:p>
                  </a:txBody>
                  <a:tcPr/>
                </a:tc>
                <a:tc>
                  <a:txBody>
                    <a:bodyPr anchor="ctr"/>
                    <a:lstStyle/>
                    <a:p>
                      <a:r>
                        <a:rPr sz="900"/>
                        <a:t>3</a:t>
                      </a:r>
                    </a:p>
                  </a:txBody>
                  <a:tcPr/>
                </a:tc>
                <a:tc>
                  <a:txBody>
                    <a:bodyPr anchor="ctr"/>
                    <a:lstStyle/>
                    <a:p>
                      <a:r>
                        <a:rPr sz="900"/>
                        <a:t>5</a:t>
                      </a:r>
                    </a:p>
                  </a:txBody>
                  <a:tcPr/>
                </a:tc>
                <a:tc>
                  <a:txBody>
                    <a:bodyPr anchor="ctr"/>
                    <a:lstStyle/>
                    <a:p>
                      <a:r>
                        <a:rPr sz="900"/>
                        <a:t>5</a:t>
                      </a:r>
                    </a:p>
                  </a:txBody>
                  <a:tcPr/>
                </a:tc>
                <a:tc>
                  <a:txBody>
                    <a:bodyPr anchor="ctr"/>
                    <a:lstStyle/>
                    <a:p>
                      <a:r>
                        <a:rPr sz="900"/>
                        <a:t>2</a:t>
                      </a:r>
                    </a:p>
                  </a:txBody>
                  <a:tcPr/>
                </a:tc>
                <a:tc>
                  <a:txBody>
                    <a:bodyPr anchor="ctr"/>
                    <a:lstStyle/>
                    <a:p>
                      <a:r>
                        <a:rPr sz="900"/>
                        <a:t>1</a:t>
                      </a:r>
                    </a:p>
                  </a:txBody>
                  <a:tcPr/>
                </a:tc>
                <a:tc>
                  <a:txBody>
                    <a:bodyPr anchor="ctr"/>
                    <a:lstStyle/>
                    <a:p>
                      <a:r>
                        <a:rPr sz="900"/>
                        <a:t>15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91440" y="1920240"/>
            <a:ext cx="11978640" cy="320040"/>
          </a:xfrm>
          <a:prstGeom prst="rect">
            <a:avLst/>
          </a:prstGeom>
          <a:solidFill>
            <a:srgbClr val="2E7D3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" y="1965960"/>
            <a:ext cx="1179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>
                <a:solidFill>
                  <a:srgbClr val="FFFFFF"/>
                </a:solidFill>
              </a:rPr>
              <a:t>2. Project Aging Summary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91440" y="2423160"/>
          <a:ext cx="1197864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1234"/>
                <a:gridCol w="1711234"/>
                <a:gridCol w="1711234"/>
                <a:gridCol w="1711234"/>
                <a:gridCol w="1711234"/>
                <a:gridCol w="1711234"/>
                <a:gridCol w="1711236"/>
              </a:tblGrid>
              <a:tr h="457200">
                <a:tc>
                  <a:txBody>
                    <a:bodyPr anchor="ctr"/>
                    <a:lstStyle/>
                    <a:p>
                      <a:r>
                        <a:rPr b="1" sz="1000">
                          <a:solidFill>
                            <a:srgbClr val="FFFFFF"/>
                          </a:solidFill>
                        </a:rPr>
                        <a:t>Stage</a:t>
                      </a:r>
                    </a:p>
                  </a:txBody>
                  <a:tcPr>
                    <a:solidFill>
                      <a:srgbClr val="FF4DB8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rPr b="1" sz="1000">
                          <a:solidFill>
                            <a:srgbClr val="FFFFFF"/>
                          </a:solidFill>
                        </a:rPr>
                        <a:t>0 - 30 Days</a:t>
                      </a:r>
                    </a:p>
                  </a:txBody>
                  <a:tcPr>
                    <a:solidFill>
                      <a:srgbClr val="FF4DB8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rPr b="1" sz="1000">
                          <a:solidFill>
                            <a:srgbClr val="FFFFFF"/>
                          </a:solidFill>
                        </a:rPr>
                        <a:t>30 - 60 Days</a:t>
                      </a:r>
                    </a:p>
                  </a:txBody>
                  <a:tcPr>
                    <a:solidFill>
                      <a:srgbClr val="FF4DB8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rPr b="1" sz="1000">
                          <a:solidFill>
                            <a:srgbClr val="FFFFFF"/>
                          </a:solidFill>
                        </a:rPr>
                        <a:t>60 - 90 Days</a:t>
                      </a:r>
                    </a:p>
                  </a:txBody>
                  <a:tcPr>
                    <a:solidFill>
                      <a:srgbClr val="FF4DB8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rPr b="1" sz="1000">
                          <a:solidFill>
                            <a:srgbClr val="FFFFFF"/>
                          </a:solidFill>
                        </a:rPr>
                        <a:t>&gt; 90 Days</a:t>
                      </a:r>
                    </a:p>
                  </a:txBody>
                  <a:tcPr>
                    <a:solidFill>
                      <a:srgbClr val="FF4DB8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rPr b="1" sz="1000">
                          <a:solidFill>
                            <a:srgbClr val="FFFFFF"/>
                          </a:solidFill>
                        </a:rPr>
                        <a:t>UD Not Started</a:t>
                      </a:r>
                    </a:p>
                  </a:txBody>
                  <a:tcPr>
                    <a:solidFill>
                      <a:srgbClr val="FF4DB8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rPr b="1" sz="1000">
                          <a:solidFill>
                            <a:srgbClr val="FFFFFF"/>
                          </a:solidFill>
                        </a:rPr>
                        <a:t>Grand Total</a:t>
                      </a:r>
                    </a:p>
                  </a:txBody>
                  <a:tcPr>
                    <a:solidFill>
                      <a:srgbClr val="FF4DB8"/>
                    </a:solidFill>
                  </a:tcPr>
                </a:tc>
              </a:tr>
              <a:tr h="457200">
                <a:tc>
                  <a:txBody>
                    <a:bodyPr anchor="ctr"/>
                    <a:lstStyle/>
                    <a:p>
                      <a:r>
                        <a:rPr sz="900"/>
                        <a:t>Dev</a:t>
                      </a:r>
                    </a:p>
                  </a:txBody>
                  <a:tcPr/>
                </a:tc>
                <a:tc>
                  <a:txBody>
                    <a:bodyPr anchor="ctr"/>
                    <a:lstStyle/>
                    <a:p>
                      <a:r>
                        <a:rPr sz="900"/>
                        <a:t>0</a:t>
                      </a:r>
                    </a:p>
                  </a:txBody>
                  <a:tcPr/>
                </a:tc>
                <a:tc>
                  <a:txBody>
                    <a:bodyPr anchor="ctr"/>
                    <a:lstStyle/>
                    <a:p>
                      <a:r>
                        <a:rPr sz="900"/>
                        <a:t>0</a:t>
                      </a:r>
                    </a:p>
                  </a:txBody>
                  <a:tcPr/>
                </a:tc>
                <a:tc>
                  <a:txBody>
                    <a:bodyPr anchor="ctr"/>
                    <a:lstStyle/>
                    <a:p>
                      <a:r>
                        <a:rPr sz="900"/>
                        <a:t>0</a:t>
                      </a:r>
                    </a:p>
                  </a:txBody>
                  <a:tcPr/>
                </a:tc>
                <a:tc>
                  <a:txBody>
                    <a:bodyPr anchor="ctr"/>
                    <a:lstStyle/>
                    <a:p>
                      <a:r>
                        <a:rPr sz="900"/>
                        <a:t>0</a:t>
                      </a:r>
                    </a:p>
                  </a:txBody>
                  <a:tcPr/>
                </a:tc>
                <a:tc>
                  <a:txBody>
                    <a:bodyPr anchor="ctr"/>
                    <a:lstStyle/>
                    <a:p>
                      <a:r>
                        <a:rPr sz="900"/>
                        <a:t>0</a:t>
                      </a:r>
                    </a:p>
                  </a:txBody>
                  <a:tcPr/>
                </a:tc>
                <a:tc>
                  <a:txBody>
                    <a:bodyPr anchor="ctr"/>
                    <a:lstStyle/>
                    <a:p>
                      <a:r>
                        <a:rPr sz="900"/>
                        <a:t>0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 anchor="ctr"/>
                    <a:lstStyle/>
                    <a:p>
                      <a:r>
                        <a:rPr sz="900"/>
                        <a:t>PO Awaited</a:t>
                      </a:r>
                    </a:p>
                  </a:txBody>
                  <a:tcPr/>
                </a:tc>
                <a:tc>
                  <a:txBody>
                    <a:bodyPr anchor="ctr"/>
                    <a:lstStyle/>
                    <a:p>
                      <a:r>
                        <a:rPr sz="900"/>
                        <a:t>2</a:t>
                      </a:r>
                    </a:p>
                  </a:txBody>
                  <a:tcPr/>
                </a:tc>
                <a:tc>
                  <a:txBody>
                    <a:bodyPr anchor="ctr"/>
                    <a:lstStyle/>
                    <a:p>
                      <a:r>
                        <a:rPr sz="900"/>
                        <a:t>0</a:t>
                      </a:r>
                    </a:p>
                  </a:txBody>
                  <a:tcPr/>
                </a:tc>
                <a:tc>
                  <a:txBody>
                    <a:bodyPr anchor="ctr"/>
                    <a:lstStyle/>
                    <a:p>
                      <a:r>
                        <a:rPr sz="900"/>
                        <a:t>1</a:t>
                      </a:r>
                    </a:p>
                  </a:txBody>
                  <a:tcPr/>
                </a:tc>
                <a:tc>
                  <a:txBody>
                    <a:bodyPr anchor="ctr"/>
                    <a:lstStyle/>
                    <a:p>
                      <a:r>
                        <a:rPr sz="900"/>
                        <a:t>0</a:t>
                      </a:r>
                    </a:p>
                  </a:txBody>
                  <a:tcPr/>
                </a:tc>
                <a:tc>
                  <a:txBody>
                    <a:bodyPr anchor="ctr"/>
                    <a:lstStyle/>
                    <a:p>
                      <a:r>
                        <a:rPr sz="900"/>
                        <a:t>0</a:t>
                      </a:r>
                    </a:p>
                  </a:txBody>
                  <a:tcPr/>
                </a:tc>
                <a:tc>
                  <a:txBody>
                    <a:bodyPr anchor="ctr"/>
                    <a:lstStyle/>
                    <a:p>
                      <a:r>
                        <a:rPr sz="900"/>
                        <a:t>3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 anchor="ctr"/>
                    <a:lstStyle/>
                    <a:p>
                      <a:r>
                        <a:rPr sz="900"/>
                        <a:t>UAT</a:t>
                      </a:r>
                    </a:p>
                  </a:txBody>
                  <a:tcPr/>
                </a:tc>
                <a:tc>
                  <a:txBody>
                    <a:bodyPr anchor="ctr"/>
                    <a:lstStyle/>
                    <a:p>
                      <a:r>
                        <a:rPr sz="900"/>
                        <a:t>1</a:t>
                      </a:r>
                    </a:p>
                  </a:txBody>
                  <a:tcPr/>
                </a:tc>
                <a:tc>
                  <a:txBody>
                    <a:bodyPr anchor="ctr"/>
                    <a:lstStyle/>
                    <a:p>
                      <a:r>
                        <a:rPr sz="900"/>
                        <a:t>1</a:t>
                      </a:r>
                    </a:p>
                  </a:txBody>
                  <a:tcPr/>
                </a:tc>
                <a:tc>
                  <a:txBody>
                    <a:bodyPr anchor="ctr"/>
                    <a:lstStyle/>
                    <a:p>
                      <a:r>
                        <a:rPr sz="900"/>
                        <a:t>1</a:t>
                      </a:r>
                    </a:p>
                  </a:txBody>
                  <a:tcPr/>
                </a:tc>
                <a:tc>
                  <a:txBody>
                    <a:bodyPr anchor="ctr"/>
                    <a:lstStyle/>
                    <a:p>
                      <a:r>
                        <a:rPr sz="900"/>
                        <a:t>2</a:t>
                      </a:r>
                    </a:p>
                  </a:txBody>
                  <a:tcPr/>
                </a:tc>
                <a:tc>
                  <a:txBody>
                    <a:bodyPr anchor="ctr"/>
                    <a:lstStyle/>
                    <a:p>
                      <a:r>
                        <a:rPr sz="900"/>
                        <a:t>0</a:t>
                      </a:r>
                    </a:p>
                  </a:txBody>
                  <a:tcPr/>
                </a:tc>
                <a:tc>
                  <a:txBody>
                    <a:bodyPr anchor="ctr"/>
                    <a:lstStyle/>
                    <a:p>
                      <a:r>
                        <a:rPr sz="900"/>
                        <a:t>5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 anchor="ctr"/>
                    <a:lstStyle/>
                    <a:p>
                      <a:r>
                        <a:rPr sz="900"/>
                        <a:t>In UD</a:t>
                      </a:r>
                    </a:p>
                  </a:txBody>
                  <a:tcPr/>
                </a:tc>
                <a:tc>
                  <a:txBody>
                    <a:bodyPr anchor="ctr"/>
                    <a:lstStyle/>
                    <a:p>
                      <a:r>
                        <a:rPr sz="900"/>
                        <a:t>0</a:t>
                      </a:r>
                    </a:p>
                  </a:txBody>
                  <a:tcPr/>
                </a:tc>
                <a:tc>
                  <a:txBody>
                    <a:bodyPr anchor="ctr"/>
                    <a:lstStyle/>
                    <a:p>
                      <a:r>
                        <a:rPr sz="900"/>
                        <a:t>0</a:t>
                      </a:r>
                    </a:p>
                  </a:txBody>
                  <a:tcPr/>
                </a:tc>
                <a:tc>
                  <a:txBody>
                    <a:bodyPr anchor="ctr"/>
                    <a:lstStyle/>
                    <a:p>
                      <a:r>
                        <a:rPr sz="900"/>
                        <a:t>0</a:t>
                      </a:r>
                    </a:p>
                  </a:txBody>
                  <a:tcPr/>
                </a:tc>
                <a:tc>
                  <a:txBody>
                    <a:bodyPr anchor="ctr"/>
                    <a:lstStyle/>
                    <a:p>
                      <a:r>
                        <a:rPr sz="900"/>
                        <a:t>2</a:t>
                      </a:r>
                    </a:p>
                  </a:txBody>
                  <a:tcPr/>
                </a:tc>
                <a:tc>
                  <a:txBody>
                    <a:bodyPr anchor="ctr"/>
                    <a:lstStyle/>
                    <a:p>
                      <a:r>
                        <a:rPr sz="900"/>
                        <a:t>2</a:t>
                      </a:r>
                    </a:p>
                  </a:txBody>
                  <a:tcPr/>
                </a:tc>
                <a:tc>
                  <a:txBody>
                    <a:bodyPr anchor="ctr"/>
                    <a:lstStyle/>
                    <a:p>
                      <a:r>
                        <a:rPr sz="900"/>
                        <a:t>4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 anchor="ctr"/>
                    <a:lstStyle/>
                    <a:p>
                      <a:r>
                        <a:rPr sz="900"/>
                        <a:t>On Hold</a:t>
                      </a:r>
                    </a:p>
                  </a:txBody>
                  <a:tcPr/>
                </a:tc>
                <a:tc>
                  <a:txBody>
                    <a:bodyPr anchor="ctr"/>
                    <a:lstStyle/>
                    <a:p>
                      <a:r>
                        <a:rPr sz="900"/>
                        <a:t>0</a:t>
                      </a:r>
                    </a:p>
                  </a:txBody>
                  <a:tcPr/>
                </a:tc>
                <a:tc>
                  <a:txBody>
                    <a:bodyPr anchor="ctr"/>
                    <a:lstStyle/>
                    <a:p>
                      <a:r>
                        <a:rPr sz="900"/>
                        <a:t>1</a:t>
                      </a:r>
                    </a:p>
                  </a:txBody>
                  <a:tcPr/>
                </a:tc>
                <a:tc>
                  <a:txBody>
                    <a:bodyPr anchor="ctr"/>
                    <a:lstStyle/>
                    <a:p>
                      <a:r>
                        <a:rPr sz="900"/>
                        <a:t>0</a:t>
                      </a:r>
                    </a:p>
                  </a:txBody>
                  <a:tcPr/>
                </a:tc>
                <a:tc>
                  <a:txBody>
                    <a:bodyPr anchor="ctr"/>
                    <a:lstStyle/>
                    <a:p>
                      <a:r>
                        <a:rPr sz="900"/>
                        <a:t>0</a:t>
                      </a:r>
                    </a:p>
                  </a:txBody>
                  <a:tcPr/>
                </a:tc>
                <a:tc>
                  <a:txBody>
                    <a:bodyPr anchor="ctr"/>
                    <a:lstStyle/>
                    <a:p>
                      <a:r>
                        <a:rPr sz="900"/>
                        <a:t>0</a:t>
                      </a:r>
                    </a:p>
                  </a:txBody>
                  <a:tcPr/>
                </a:tc>
                <a:tc>
                  <a:txBody>
                    <a:bodyPr anchor="ctr"/>
                    <a:lstStyle/>
                    <a:p>
                      <a:r>
                        <a:rPr sz="900"/>
                        <a:t>1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 anchor="ctr"/>
                    <a:lstStyle/>
                    <a:p>
                      <a:r>
                        <a:rPr sz="900"/>
                        <a:t>Grand Total</a:t>
                      </a:r>
                    </a:p>
                  </a:txBody>
                  <a:tcPr>
                    <a:solidFill>
                      <a:srgbClr val="FFF3CD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rPr sz="900"/>
                        <a:t>3</a:t>
                      </a:r>
                    </a:p>
                  </a:txBody>
                  <a:tcPr>
                    <a:solidFill>
                      <a:srgbClr val="FFF3CD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rPr sz="900"/>
                        <a:t>2</a:t>
                      </a:r>
                    </a:p>
                  </a:txBody>
                  <a:tcPr>
                    <a:solidFill>
                      <a:srgbClr val="FFF3CD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rPr sz="900"/>
                        <a:t>2</a:t>
                      </a:r>
                    </a:p>
                  </a:txBody>
                  <a:tcPr>
                    <a:solidFill>
                      <a:srgbClr val="FFF3CD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rPr sz="900"/>
                        <a:t>4</a:t>
                      </a:r>
                    </a:p>
                  </a:txBody>
                  <a:tcPr>
                    <a:solidFill>
                      <a:srgbClr val="FFF3CD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rPr sz="900"/>
                        <a:t>2</a:t>
                      </a:r>
                    </a:p>
                  </a:txBody>
                  <a:tcPr>
                    <a:solidFill>
                      <a:srgbClr val="FFF3CD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rPr sz="900"/>
                        <a:t>13</a:t>
                      </a:r>
                    </a:p>
                  </a:txBody>
                  <a:tcPr>
                    <a:solidFill>
                      <a:srgbClr val="FFF3C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" y="91440"/>
            <a:ext cx="11978640" cy="320040"/>
          </a:xfrm>
          <a:prstGeom prst="rect">
            <a:avLst/>
          </a:prstGeom>
          <a:solidFill>
            <a:srgbClr val="2E7D3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137160"/>
            <a:ext cx="1179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>
                <a:solidFill>
                  <a:srgbClr val="FFFFFF"/>
                </a:solidFill>
              </a:rPr>
              <a:t>3. Delivery Highlights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" y="502920"/>
          <a:ext cx="1197864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78640"/>
              </a:tblGrid>
              <a:tr h="1600200">
                <a:tc>
                  <a:txBody>
                    <a:bodyPr anchor="ctr"/>
                    <a:lstStyle/>
                    <a:p>
                      <a:r>
                        <a:rPr b="1" sz="1000">
                          <a:solidFill>
                            <a:srgbClr val="FFFFFF"/>
                          </a:solidFill>
                        </a:rPr>
                        <a:t>Message</a:t>
                      </a:r>
                    </a:p>
                  </a:txBody>
                  <a:tcPr>
                    <a:solidFill>
                      <a:srgbClr val="FF4DB8"/>
                    </a:solidFill>
                  </a:tcPr>
                </a:tc>
              </a:tr>
              <a:tr h="1600200">
                <a:tc>
                  <a:txBody>
                    <a:bodyPr anchor="ctr"/>
                    <a:lstStyle/>
                    <a:p>
                      <a:r>
                        <a:rPr sz="900"/>
                        <a:t>No delivery in last week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91440" y="3840480"/>
            <a:ext cx="11978640" cy="320040"/>
          </a:xfrm>
          <a:prstGeom prst="rect">
            <a:avLst/>
          </a:prstGeom>
          <a:solidFill>
            <a:srgbClr val="2E7D3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3886200"/>
            <a:ext cx="1179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>
                <a:solidFill>
                  <a:srgbClr val="FFFFFF"/>
                </a:solidFill>
              </a:rPr>
              <a:t>5. Outlook for Next Week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91440" y="4251960"/>
          <a:ext cx="1197864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78640"/>
              </a:tblGrid>
              <a:tr h="1600200">
                <a:tc>
                  <a:txBody>
                    <a:bodyPr anchor="ctr"/>
                    <a:lstStyle/>
                    <a:p>
                      <a:r>
                        <a:rPr b="1" sz="1000">
                          <a:solidFill>
                            <a:srgbClr val="FFFFFF"/>
                          </a:solidFill>
                        </a:rPr>
                        <a:t>Message</a:t>
                      </a:r>
                    </a:p>
                  </a:txBody>
                  <a:tcPr>
                    <a:solidFill>
                      <a:srgbClr val="FF4DB8"/>
                    </a:solidFill>
                  </a:tcPr>
                </a:tc>
              </a:tr>
              <a:tr h="1600200">
                <a:tc>
                  <a:txBody>
                    <a:bodyPr anchor="ctr"/>
                    <a:lstStyle/>
                    <a:p>
                      <a:r>
                        <a:rPr sz="900"/>
                        <a:t>No deliveries scheduled for next week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" y="91440"/>
            <a:ext cx="11978640" cy="320040"/>
          </a:xfrm>
          <a:prstGeom prst="rect">
            <a:avLst/>
          </a:prstGeom>
          <a:solidFill>
            <a:srgbClr val="2E7D3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137160"/>
            <a:ext cx="1179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>
                <a:solidFill>
                  <a:srgbClr val="FFFFFF"/>
                </a:solidFill>
              </a:rPr>
              <a:t>6. Executive Summary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" y="548640"/>
            <a:ext cx="73152" cy="685800"/>
          </a:xfrm>
          <a:prstGeom prst="rect">
            <a:avLst/>
          </a:prstGeom>
          <a:solidFill>
            <a:srgbClr val="FF4DB8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01168" y="548640"/>
            <a:ext cx="11612880" cy="685800"/>
          </a:xfrm>
          <a:prstGeom prst="rect">
            <a:avLst/>
          </a:prstGeom>
          <a:solidFill>
            <a:srgbClr val="F3F3F3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56032" y="621792"/>
            <a:ext cx="11338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• Enabling UPI on CRM Funding Link for customers - InstaFund is progressing in testing/UAT stage. Current focus is completion of validations and closure of pending observations. Project aging is high (357 days) and needs priority tracking.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109728" y="1417319"/>
            <a:ext cx="73152" cy="685800"/>
          </a:xfrm>
          <a:prstGeom prst="rect">
            <a:avLst/>
          </a:prstGeom>
          <a:solidFill>
            <a:srgbClr val="FF4DB8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01168" y="1417319"/>
            <a:ext cx="11612880" cy="685800"/>
          </a:xfrm>
          <a:prstGeom prst="rect">
            <a:avLst/>
          </a:prstGeom>
          <a:solidFill>
            <a:srgbClr val="F3F3F3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6032" y="1490472"/>
            <a:ext cx="11338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• CRM : NTB NR Account Opening for Adobe / Smart App journey requires management attention due to pending dependencies/issues impacting timelines. Project aging is high (280 days) and needs priority tracking.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9728" y="2286000"/>
            <a:ext cx="73152" cy="685800"/>
          </a:xfrm>
          <a:prstGeom prst="rect">
            <a:avLst/>
          </a:prstGeom>
          <a:solidFill>
            <a:srgbClr val="FF4DB8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01168" y="2286000"/>
            <a:ext cx="11612880" cy="685800"/>
          </a:xfrm>
          <a:prstGeom prst="rect">
            <a:avLst/>
          </a:prstGeom>
          <a:solidFill>
            <a:srgbClr val="F3F3F3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" y="2359152"/>
            <a:ext cx="11338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• Business Debit Card | SSO Integration with Line6 is currently in UD submitted stage with ongoing progress updates under review. Project aging is high (115 days) and needs priority tracking.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9728" y="3154680"/>
            <a:ext cx="73152" cy="685800"/>
          </a:xfrm>
          <a:prstGeom prst="rect">
            <a:avLst/>
          </a:prstGeom>
          <a:solidFill>
            <a:srgbClr val="FF4DB8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01168" y="3154680"/>
            <a:ext cx="11612880" cy="685800"/>
          </a:xfrm>
          <a:prstGeom prst="rect">
            <a:avLst/>
          </a:prstGeom>
          <a:solidFill>
            <a:srgbClr val="F3F3F3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56032" y="3227832"/>
            <a:ext cx="11338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• PIS Account ENET Form Changes is progressing in testing/UAT stage. Current focus is completion of validations and closure of pending observations. Project aging is high (115 days) and needs priority tracking.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728" y="4023360"/>
            <a:ext cx="73152" cy="685800"/>
          </a:xfrm>
          <a:prstGeom prst="rect">
            <a:avLst/>
          </a:prstGeom>
          <a:solidFill>
            <a:srgbClr val="FF4DB8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01168" y="4023360"/>
            <a:ext cx="11612880" cy="685800"/>
          </a:xfrm>
          <a:prstGeom prst="rect">
            <a:avLst/>
          </a:prstGeom>
          <a:solidFill>
            <a:srgbClr val="F3F3F3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56032" y="4096512"/>
            <a:ext cx="11338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• ISA | NDML circular on usage of KRA by MFD is progressing in testing/UAT stage. Current focus is completion of validations and closure of pending observations.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