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u="sng" sz="2200"/>
              <a:t>Weekly Status Report : 20 Apr - 24 Apr,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943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1. Status Dashboard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005840"/>
          <a:ext cx="119786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330"/>
                <a:gridCol w="1497330"/>
                <a:gridCol w="1497330"/>
                <a:gridCol w="1497330"/>
                <a:gridCol w="1497330"/>
                <a:gridCol w="1497330"/>
                <a:gridCol w="1497330"/>
                <a:gridCol w="1497330"/>
              </a:tblGrid>
              <a:tr h="36576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Go Live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Dev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PO Awaited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UAT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In UD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UD Not Started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On Hold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Grand Total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" y="19659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2. Project Aging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" y="242316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234"/>
                <a:gridCol w="1711234"/>
                <a:gridCol w="1711234"/>
                <a:gridCol w="1711234"/>
                <a:gridCol w="1711234"/>
                <a:gridCol w="1711234"/>
                <a:gridCol w="1711236"/>
              </a:tblGrid>
              <a:tr h="45720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0 - 30 Days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30 - 60 Days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60 - 90 Days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&gt; 90 Days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UD Not Started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Grand Total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Dev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PO Awaited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UAT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In UD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On Hold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anchor="ctr"/>
                    <a:lstStyle/>
                    <a:p>
                      <a:r>
                        <a:rPr sz="900"/>
                        <a:t>Grand Total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900"/>
                        <a:t>13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371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3. Delivery Highlights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" y="50292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640"/>
              </a:tblGrid>
              <a:tr h="160020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</a:tr>
              <a:tr h="1600200">
                <a:tc>
                  <a:txBody>
                    <a:bodyPr anchor="ctr"/>
                    <a:lstStyle/>
                    <a:p>
                      <a:r>
                        <a:rPr sz="900"/>
                        <a:t>No delivery in last week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388620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5. Outlook for Next Week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425196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640"/>
              </a:tblGrid>
              <a:tr h="1600200">
                <a:tc>
                  <a:txBody>
                    <a:bodyPr anchor="ctr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014696"/>
                    </a:solidFill>
                  </a:tcPr>
                </a:tc>
              </a:tr>
              <a:tr h="1600200">
                <a:tc>
                  <a:txBody>
                    <a:bodyPr anchor="ctr"/>
                    <a:lstStyle/>
                    <a:p>
                      <a:r>
                        <a:rPr sz="900"/>
                        <a:t>No deliveries scheduled for next week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37160"/>
            <a:ext cx="1179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FF"/>
                </a:solidFill>
              </a:rPr>
              <a:t>6.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" y="5486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Enabling UPI on CRM Funding Link for customers - InstaFund is progressing in testing/UAT stage. Current focus is completion of validations and closure of pending observations. Project aging is high (357 days) and needs priority tracking.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1417319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CRM : NTB NR Account Opening for Adobe / Smart App journey requires management attention due to pending dependencies/issues impacting timelines. Project aging is high (280 days) and needs priority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" y="228600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Business Debit Card | SSO Integration with Line6 is currently in UD submitted stage with ongoing progress updates under review. Project aging is high (115 days) and needs priority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" y="315468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PIS Account ENET Form Changes is progressing in testing/UAT stage. Current focus is completion of validations and closure of pending observations. Project aging is high (115 days) and needs priority tracking.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" y="402336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ISA | NDML circular on usage of KRA by MFD is progressing in testing/UAT stage. Current focus is completion of validations and closure of pending observations.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